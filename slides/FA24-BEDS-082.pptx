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22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22"/>
                </a:solidFill>
                <a:latin typeface="+mn-lt"/>
              </a:rPr>
              <a:t>Men minus women, literacy rate (percentage points)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(points)</c:v>
                </c:pt>
              </c:strCache>
            </c:strRef>
          </c:tx>
          <c:spPr>
            <a:solidFill>
              <a:srgbClr val="28727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10-14</c:v>
                  </c:pt>
                  <c:pt idx="1">
                    <c:v>15-19</c:v>
                  </c:pt>
                  <c:pt idx="2">
                    <c:v>20-24</c:v>
                  </c:pt>
                  <c:pt idx="3">
                    <c:v>25-29</c:v>
                  </c:pt>
                  <c:pt idx="4">
                    <c:v>30-34</c:v>
                  </c:pt>
                  <c:pt idx="5">
                    <c:v>35-39</c:v>
                  </c:pt>
                  <c:pt idx="6">
                    <c:v>40-44</c:v>
                  </c:pt>
                  <c:pt idx="7">
                    <c:v>45-49</c:v>
                  </c:pt>
                  <c:pt idx="8">
                    <c:v>50-54</c:v>
                  </c:pt>
                  <c:pt idx="9">
                    <c:v>55-59</c:v>
                  </c:pt>
                  <c:pt idx="10">
                    <c:v>60-64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22.1</c:v>
                </c:pt>
                <c:pt idx="1">
                  <c:v>31.5</c:v>
                </c:pt>
                <c:pt idx="2">
                  <c:v>35.1</c:v>
                </c:pt>
                <c:pt idx="3">
                  <c:v>28.9</c:v>
                </c:pt>
                <c:pt idx="4">
                  <c:v>42.5</c:v>
                </c:pt>
                <c:pt idx="5">
                  <c:v>36</c:v>
                </c:pt>
                <c:pt idx="6">
                  <c:v>38</c:v>
                </c:pt>
                <c:pt idx="7">
                  <c:v>40.8</c:v>
                </c:pt>
                <c:pt idx="8">
                  <c:v>35.3</c:v>
                </c:pt>
                <c:pt idx="9">
                  <c:v>30.4</c:v>
                </c:pt>
                <c:pt idx="10">
                  <c:v>29.6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A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6B6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6B62"/>
                    </a:solidFill>
                    <a:latin typeface="Arial"/>
                  </a:rPr>
                  <a:t>Age band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Variant: 82 = 10 x 8 + 2, remainder 2 = Sindh rural. Students are persons with ed_total &gt; 0; literacy sample is aged 10-64 with literate not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Weighted median Rs 4,500 vs unweighted Rs 4,295: weights give more influence to higher-weight households, which spend slightly more. One student outside Rs 100 to Rs 1,000,000 was excluded from the histogram.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Changes: (1) conditional means E[literate|age] instead of binary points that overplot; (2) direct labels, no legend, less ink; (3) weights, hollow markers for thin cells, 0-100% axis, caption. The default shows individual observations; the redesign hides the spread inside a 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Women: 28.0% vs men 59.5% at 15-19; 9.6% vs 40.0% at 55-59. Largest gap 42.5 points at 30-34. Caution: older bands are older birth cohorts, so age and generation are mixed; one cross-section cannot separate supply from demand.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FA24-BEDS-082  |  ECO346 Assignment 1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 for school, and who can read, in rural Sindh?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PSLM 2019-20  |  Weighted by household weight (hhweight)</a:t>
            </a:r>
            <a:endParaRPr lang="en-US" sz="1600" dirty="0"/>
          </a:p>
        </p:txBody>
      </p:sp>
      <p:sp>
        <p:nvSpPr>
          <p:cNvPr id="4" name="Variant card"/>
          <p:cNvSpPr/>
          <p:nvPr/>
        </p:nvSpPr>
        <p:spPr>
          <a:xfrm>
            <a:off x="457200" y="2468880"/>
            <a:ext cx="3931920" cy="1920240"/>
          </a:xfrm>
          <a:prstGeom prst="roundRect">
            <a:avLst>
              <a:gd name="adj" fmla="val 5714"/>
            </a:avLst>
          </a:prstGeom>
          <a:solidFill>
            <a:srgbClr val="2F5D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6974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 2</a:t>
            </a:r>
            <a:endParaRPr lang="en-US" sz="3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Sindh rural</a:t>
            </a:r>
            <a:endParaRPr lang="en-US" sz="3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F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= 10 x 8 + 2  (prov_code 3, urban_rural 1)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1,440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3108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education spending (Q2)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35661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7,171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4206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 aged 10-64 with known literacy (Q3)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FA24-BEDS-082  |  Section B  |  ECO346 Data Visualization Techniques for Economists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middle 80% of students cost families Rs 1,000 to Rs 15,500 a year</a:t>
            </a:r>
            <a:endParaRPr lang="en-US" sz="2600" dirty="0"/>
          </a:p>
        </p:txBody>
      </p:sp>
      <p:pic>
        <p:nvPicPr>
          <p:cNvPr id="3" name="Distribution figure" descr="Weighted histogram of annual education spending in rural Sindh, log scale, with dashed lines at the weighted median Rs 4,500 and 90th percentile Rs 15,5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212080" cy="335859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3504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866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 4,500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18470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 (unweighted: Rs 4,295)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B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 15,500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9900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90th percentile; the 10th is Rs 1,000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3566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15.50x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41330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between the 90th and 10th percentile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makeover: from 7,171 overplotted dots to two readable trends</a:t>
            </a:r>
            <a:endParaRPr lang="en-US" sz="2600" dirty="0"/>
          </a:p>
        </p:txBody>
      </p:sp>
      <p:pic>
        <p:nvPicPr>
          <p:cNvPr id="3" name="Default figure" descr="R default scatterplot of literate (0 or 1) against 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2926080" cy="2926080"/>
          </a:xfrm>
          <a:prstGeom prst="rect">
            <a:avLst/>
          </a:prstGeom>
        </p:spPr>
      </p:pic>
      <p:pic>
        <p:nvPicPr>
          <p:cNvPr id="4" name="Redesigned figure" descr="Redesigned line chart of weighted literacy rate by age band for women and m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234440"/>
            <a:ext cx="4544568" cy="29260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224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ggplot + geom_point() only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3657600" y="4224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Redesign: weighted means by band, labelled lines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means replace overplotted points; direct labels replace a legend; weights make it rural Sindh.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important finding: the gender gap in literacy has barely narrowed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3444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0" y="1280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872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31.5 pts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943600" y="18470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among those aged 15-19 (28.0% vs 59.5%)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F4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30.4 pts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8986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among those aged 55-59 (9.6% vs 40.0%)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383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42.5 pts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950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gap, at ages 30-34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4343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cross-section: it cannot say why (school supply or household demand).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ural Sindh">
  <a:themeElements>
    <a:clrScheme name="Rural Sindh">
      <a:dk1>
        <a:srgbClr val="1B2A22"/>
      </a:dk1>
      <a:lt1>
        <a:srgbClr val="FFFFFF"/>
      </a:lt1>
      <a:dk2>
        <a:srgbClr val="2F5D3A"/>
      </a:dk2>
      <a:lt2>
        <a:srgbClr val="EEF3EF"/>
      </a:lt2>
      <a:accent1>
        <a:srgbClr val="386641"/>
      </a:accent1>
      <a:accent2>
        <a:srgbClr val="8F4E8B"/>
      </a:accent2>
      <a:accent3>
        <a:srgbClr val="287271"/>
      </a:accent3>
      <a:accent4>
        <a:srgbClr val="9B2226"/>
      </a:accent4>
      <a:accent5>
        <a:srgbClr val="6A994E"/>
      </a:accent5>
      <a:accent6>
        <a:srgbClr val="A7C4A0"/>
      </a:accent6>
      <a:hlink>
        <a:srgbClr val="287271"/>
      </a:hlink>
      <a:folHlink>
        <a:srgbClr val="8F4E8B"/>
      </a:folHlink>
    </a:clrScheme>
    <a:fontScheme name="Rural Sind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Assignment 1 - FA24-BEDS-082</dc:title>
  <dc:subject>PptxGenJS Presentation</dc:subject>
  <dc:creator>PptxGenJS</dc:creator>
  <cp:lastModifiedBy>PptxGenJS</cp:lastModifiedBy>
  <cp:revision>1</cp:revision>
  <dcterms:created xsi:type="dcterms:W3CDTF">2026-10-26T15:03:55Z</dcterms:created>
  <dcterms:modified xsi:type="dcterms:W3CDTF">2026-10-26T15:03:55Z</dcterms:modified>
</cp:coreProperties>
</file>